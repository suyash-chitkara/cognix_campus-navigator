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3"/>
  </p:notesMasterIdLst>
  <p:handoutMasterIdLst>
    <p:handoutMasterId r:id="rId24"/>
  </p:handoutMasterIdLst>
  <p:sldIdLst>
    <p:sldId id="256" r:id="rId5"/>
    <p:sldId id="257" r:id="rId6"/>
    <p:sldId id="269"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68" r:id="rId22"/>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1280" y="3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4/29/2026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4/29/2026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377289"/>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IN" sz="2000" b="1" dirty="0"/>
              <a:t>COGNIX SMART CAMPUSH NAVIGATOR</a:t>
            </a:r>
            <a:br>
              <a:rPr lang="en-IN" sz="2000" dirty="0"/>
            </a:br>
            <a:endParaRPr lang="en-US" sz="2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1"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400" strike="noStrike" spc="-1" dirty="0">
                <a:solidFill>
                  <a:srgbClr val="000000"/>
                </a:solidFill>
                <a:latin typeface="Times New Roman" panose="02020603050405020304" pitchFamily="18" charset="0"/>
                <a:ea typeface="MS PGothic"/>
                <a:cs typeface="Times New Roman" panose="02020603050405020304" pitchFamily="18" charset="0"/>
              </a:rPr>
              <a:t>Suyash Sharma(2210991000)</a:t>
            </a:r>
          </a:p>
          <a:p>
            <a:pPr algn="ctr">
              <a:lnSpc>
                <a:spcPct val="100000"/>
              </a:lnSpc>
              <a:spcBef>
                <a:spcPts val="400"/>
              </a:spcBef>
            </a:pPr>
            <a:r>
              <a:rPr lang="en-US" sz="2400" b="0" strike="noStrike" spc="-1" dirty="0">
                <a:solidFill>
                  <a:srgbClr val="000000"/>
                </a:solidFill>
                <a:latin typeface="Times New Roman" panose="02020603050405020304" pitchFamily="18" charset="0"/>
                <a:ea typeface="MS PGothic"/>
                <a:cs typeface="Times New Roman" panose="02020603050405020304" pitchFamily="18" charset="0"/>
              </a:rPr>
              <a:t>,Somya Bhatt(2210990861),</a:t>
            </a:r>
            <a:r>
              <a:rPr lang="en-US" sz="2400" spc="-1" dirty="0">
                <a:solidFill>
                  <a:srgbClr val="000000"/>
                </a:solidFill>
                <a:latin typeface="Times New Roman" panose="02020603050405020304" pitchFamily="18" charset="0"/>
                <a:ea typeface="MS PGothic"/>
                <a:cs typeface="Times New Roman" panose="02020603050405020304" pitchFamily="18" charset="0"/>
              </a:rPr>
              <a:t>Kundan </a:t>
            </a:r>
            <a:r>
              <a:rPr lang="en-US" sz="2400" spc="-1" dirty="0" err="1">
                <a:solidFill>
                  <a:srgbClr val="000000"/>
                </a:solidFill>
                <a:latin typeface="Times New Roman" panose="02020603050405020304" pitchFamily="18" charset="0"/>
                <a:ea typeface="MS PGothic"/>
                <a:cs typeface="Times New Roman" panose="02020603050405020304" pitchFamily="18" charset="0"/>
              </a:rPr>
              <a:t>Tamsoy</a:t>
            </a:r>
            <a:r>
              <a:rPr lang="en-US" sz="2400" b="0" strike="noStrike" spc="-1" dirty="0">
                <a:solidFill>
                  <a:srgbClr val="000000"/>
                </a:solidFill>
                <a:latin typeface="Times New Roman" panose="02020603050405020304" pitchFamily="18" charset="0"/>
                <a:ea typeface="MS PGothic"/>
                <a:cs typeface="Times New Roman" panose="02020603050405020304" pitchFamily="18" charset="0"/>
              </a:rPr>
              <a:t>(2210991827)</a:t>
            </a:r>
          </a:p>
          <a:p>
            <a:pPr algn="ctr">
              <a:lnSpc>
                <a:spcPct val="100000"/>
              </a:lnSpc>
              <a:spcBef>
                <a:spcPts val="400"/>
              </a:spcBef>
            </a:pPr>
            <a:r>
              <a:rPr lang="en-US" sz="2400" spc="-1" dirty="0">
                <a:solidFill>
                  <a:srgbClr val="000000"/>
                </a:solidFill>
                <a:latin typeface="Times New Roman" panose="02020603050405020304" pitchFamily="18" charset="0"/>
                <a:ea typeface="MS PGothic"/>
                <a:cs typeface="Times New Roman" panose="02020603050405020304" pitchFamily="18" charset="0"/>
              </a:rPr>
              <a:t>,Abu Ezaan Anjum(2210991174)</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Monika Aggarwal</a:t>
            </a: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68086" y="10886"/>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endParaRPr lang="en-US" sz="1900" b="0" strike="noStrike" spc="-1" dirty="0">
              <a:solidFill>
                <a:srgbClr val="000000"/>
              </a:solidFill>
              <a:latin typeface="Calibri"/>
            </a:endParaRPr>
          </a:p>
          <a:p>
            <a:r>
              <a:rPr lang="en-US" dirty="0"/>
              <a:t>The Problem: Navigating large university or corporate campuses can be confusing and time-consuming for new students, visitors, and even staff.</a:t>
            </a:r>
          </a:p>
          <a:p>
            <a:r>
              <a:rPr lang="en-US" dirty="0"/>
              <a:t>Limitations of Current Systems: Traditional 2D physical maps or basic web maps lack interactivity, real-time data, and personalized guidance.</a:t>
            </a:r>
          </a:p>
          <a:p>
            <a:r>
              <a:rPr lang="en-US" dirty="0"/>
              <a:t>The Need: An intelligent, accessible, and modern solution to improve campus accessibility and elevate the overall user experience.</a:t>
            </a:r>
          </a:p>
          <a:p>
            <a:r>
              <a:rPr lang="en-US" dirty="0"/>
              <a:t>The Project: </a:t>
            </a:r>
            <a:r>
              <a:rPr lang="en-US" dirty="0" err="1"/>
              <a:t>Cognix</a:t>
            </a:r>
            <a:r>
              <a:rPr lang="en-US" dirty="0"/>
              <a:t> is a state-of-the-art "Smart Campus Navigation System" and Digital Twin platform designed to provide an intuitive, real-time, and highly interactive campus experience.</a:t>
            </a:r>
          </a:p>
          <a:p>
            <a:pPr marL="457200" lvl="0" indent="-317500">
              <a:buClr>
                <a:srgbClr val="000000"/>
              </a:buClr>
              <a:buSzPts val="1400"/>
              <a:buChar char="●"/>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C46EB-D0DA-41F7-77A1-3D6B2F30F9A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5313B999-2E71-BE5A-8B57-DC6A4223F979}"/>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Proposed Solution / System Overview</a:t>
            </a:r>
          </a:p>
        </p:txBody>
      </p:sp>
      <p:sp>
        <p:nvSpPr>
          <p:cNvPr id="110" name="TextShape 3">
            <a:extLst>
              <a:ext uri="{FF2B5EF4-FFF2-40B4-BE49-F238E27FC236}">
                <a16:creationId xmlns:a16="http://schemas.microsoft.com/office/drawing/2014/main" id="{210CF42C-5DB9-F609-11BB-374D170BC2E2}"/>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3</a:t>
            </a:fld>
            <a:endParaRPr lang="en-GB" sz="1200" b="0" strike="noStrike" spc="-1">
              <a:latin typeface="Times New Roman"/>
            </a:endParaRPr>
          </a:p>
        </p:txBody>
      </p:sp>
      <p:sp>
        <p:nvSpPr>
          <p:cNvPr id="5" name="TextShape 2">
            <a:extLst>
              <a:ext uri="{FF2B5EF4-FFF2-40B4-BE49-F238E27FC236}">
                <a16:creationId xmlns:a16="http://schemas.microsoft.com/office/drawing/2014/main" id="{FFBA5381-A905-286F-C7F7-C429495B9E65}"/>
              </a:ext>
            </a:extLst>
          </p:cNvPr>
          <p:cNvSpPr txBox="1"/>
          <p:nvPr/>
        </p:nvSpPr>
        <p:spPr>
          <a:xfrm>
            <a:off x="164008" y="1109742"/>
            <a:ext cx="8838720" cy="4838571"/>
          </a:xfrm>
          <a:prstGeom prst="rect">
            <a:avLst/>
          </a:prstGeom>
          <a:noFill/>
          <a:ln w="9360">
            <a:noFill/>
          </a:ln>
        </p:spPr>
        <p:txBody>
          <a:bodyPr>
            <a:noAutofit/>
          </a:bodyPr>
          <a:lstStyle/>
          <a:p>
            <a:r>
              <a:rPr lang="en-US" sz="1200" b="1" dirty="0"/>
              <a:t>The Concept: A Campus Digital Twin</a:t>
            </a:r>
            <a:r>
              <a:rPr lang="en-US" sz="1200" dirty="0"/>
              <a:t> The core proposition of the </a:t>
            </a:r>
            <a:r>
              <a:rPr lang="en-US" sz="1200" dirty="0" err="1"/>
              <a:t>Cognix</a:t>
            </a:r>
            <a:r>
              <a:rPr lang="en-US" sz="1200" dirty="0"/>
              <a:t> project is to transcend traditional, static 2D campus maps by creating a </a:t>
            </a:r>
            <a:r>
              <a:rPr lang="en-US" sz="1200" b="1" dirty="0"/>
              <a:t>Digital Twin</a:t>
            </a:r>
            <a:r>
              <a:rPr lang="en-US" sz="1200" dirty="0"/>
              <a:t> of the campus infrastructure. A digital twin is a dynamic, virtual representation of a physical environment. Instead of just showing where a building is, </a:t>
            </a:r>
            <a:r>
              <a:rPr lang="en-US" sz="1200" dirty="0" err="1"/>
              <a:t>Cognix</a:t>
            </a:r>
            <a:r>
              <a:rPr lang="en-US" sz="1200" dirty="0"/>
              <a:t> provides an interactive layer on top of the physical geography, allowing users to interact with campus facilities, view real-time data, and receive intelligent guidance through a unified web interface.</a:t>
            </a:r>
          </a:p>
          <a:p>
            <a:r>
              <a:rPr lang="en-US" sz="1200" b="1" dirty="0"/>
              <a:t>System Architecture</a:t>
            </a:r>
            <a:r>
              <a:rPr lang="en-US" sz="1200" dirty="0"/>
              <a:t> To deliver this experience seamlessly across devices, </a:t>
            </a:r>
            <a:r>
              <a:rPr lang="en-US" sz="1200" dirty="0" err="1"/>
              <a:t>Cognix</a:t>
            </a:r>
            <a:r>
              <a:rPr lang="en-US" sz="1200" dirty="0"/>
              <a:t> is built on a robust, modern </a:t>
            </a:r>
            <a:r>
              <a:rPr lang="en-US" sz="1200" b="1" dirty="0"/>
              <a:t>Client-Server Architecture</a:t>
            </a:r>
            <a:r>
              <a:rPr lang="en-US" sz="1200" dirty="0"/>
              <a:t>:</a:t>
            </a:r>
          </a:p>
          <a:p>
            <a:r>
              <a:rPr lang="en-US" sz="1200" b="1" dirty="0"/>
              <a:t>The Interactive Client (Frontend):</a:t>
            </a:r>
            <a:endParaRPr lang="en-US" sz="1200" dirty="0"/>
          </a:p>
          <a:p>
            <a:pPr lvl="1"/>
            <a:r>
              <a:rPr lang="en-US" sz="1200" b="1" dirty="0"/>
              <a:t>User Interface:</a:t>
            </a:r>
            <a:r>
              <a:rPr lang="en-US" sz="1200" dirty="0"/>
              <a:t> The user-facing application is a highly responsive Single Page Application (SPA). It acts as the interactive map viewer and the primary interface for all features.</a:t>
            </a:r>
          </a:p>
          <a:p>
            <a:pPr lvl="1"/>
            <a:r>
              <a:rPr lang="en-US" sz="1200" b="1" dirty="0"/>
              <a:t>Welcome Overlay:</a:t>
            </a:r>
            <a:r>
              <a:rPr lang="en-US" sz="1200" dirty="0"/>
              <a:t> The experience begins with an engaging entry point that masks the complex background loading processes and transitions smoothly into the "Explore Campus" view.</a:t>
            </a:r>
          </a:p>
          <a:p>
            <a:pPr lvl="1"/>
            <a:r>
              <a:rPr lang="en-US" sz="1200" b="1" dirty="0"/>
              <a:t>Dynamic Rendering:</a:t>
            </a:r>
            <a:r>
              <a:rPr lang="en-US" sz="1200" dirty="0"/>
              <a:t> Instead of reloading pages, the client dynamically renders map segments, search results, and chatbot overlays on the fly, ensuring a fluid, app-like experience.</a:t>
            </a:r>
          </a:p>
          <a:p>
            <a:r>
              <a:rPr lang="en-US" sz="1200" b="1" dirty="0"/>
              <a:t>The Processing Server (Backend):</a:t>
            </a:r>
            <a:endParaRPr lang="en-US" sz="1200" dirty="0"/>
          </a:p>
          <a:p>
            <a:pPr lvl="1"/>
            <a:r>
              <a:rPr lang="en-US" sz="1200" b="1" dirty="0"/>
              <a:t>API Gateway:</a:t>
            </a:r>
            <a:r>
              <a:rPr lang="en-US" sz="1200" dirty="0"/>
              <a:t> A centralized backend server handles all incoming requests from the frontend, securely managing data flow.</a:t>
            </a:r>
          </a:p>
          <a:p>
            <a:pPr lvl="1"/>
            <a:r>
              <a:rPr lang="en-US" sz="1200" b="1" dirty="0"/>
              <a:t>Logic Engine:</a:t>
            </a:r>
            <a:r>
              <a:rPr lang="en-US" sz="1200" dirty="0"/>
              <a:t> It processes complex tasks such as executing navigation routing algorithms (calculating the shortest/most accessible path between Point A and Point B) and processing search queries from the Command Palette.</a:t>
            </a:r>
          </a:p>
          <a:p>
            <a:pPr lvl="1"/>
            <a:r>
              <a:rPr lang="en-US" sz="1200" b="1" dirty="0"/>
              <a:t>AI Integration:</a:t>
            </a:r>
            <a:r>
              <a:rPr lang="en-US" sz="1200" dirty="0"/>
              <a:t> The backend acts as the bridge to the Natural Language Processing (NLP) models, taking user voice or text input from the chatbot, interpreting the intent, and returning contextual answers or navigation commands.</a:t>
            </a:r>
          </a:p>
          <a:p>
            <a:r>
              <a:rPr lang="en-US" sz="1200" b="1" dirty="0"/>
              <a:t>Data Flow and Management</a:t>
            </a:r>
            <a:endParaRPr lang="en-US" sz="1200" dirty="0"/>
          </a:p>
          <a:p>
            <a:r>
              <a:rPr lang="en-US" sz="1200" b="1" dirty="0"/>
              <a:t>Structured Campus Data:</a:t>
            </a:r>
            <a:r>
              <a:rPr lang="en-US" sz="1200" dirty="0"/>
              <a:t> The system relies on meticulously structured data sets (e.g., JSON pipelines) that define the coordinates of buildings, rooms, amenities, and ongoing events.</a:t>
            </a:r>
          </a:p>
          <a:p>
            <a:r>
              <a:rPr lang="en-US" sz="1200" b="1" dirty="0"/>
              <a:t>Real-Time Data Integration:</a:t>
            </a:r>
            <a:r>
              <a:rPr lang="en-US" sz="1200" dirty="0"/>
              <a:t> The architecture is designed to ingest and display dynamic data. For instance, the </a:t>
            </a:r>
            <a:r>
              <a:rPr lang="en-US" sz="1200" b="1" dirty="0"/>
              <a:t>Crowd Density Heatmap</a:t>
            </a:r>
            <a:r>
              <a:rPr lang="en-US" sz="1200" dirty="0"/>
              <a:t> processes real-time metrics to visually indicate high-traffic areas, allowing the system to suggest alternative, less congested routes.</a:t>
            </a:r>
          </a:p>
          <a:p>
            <a:r>
              <a:rPr lang="en-US" sz="1200" b="1" dirty="0"/>
              <a:t>The User Journey</a:t>
            </a:r>
            <a:endParaRPr lang="en-US" sz="1200" dirty="0"/>
          </a:p>
          <a:p>
            <a:r>
              <a:rPr lang="en-US" sz="1200" b="1" dirty="0"/>
              <a:t>Assistance:</a:t>
            </a:r>
            <a:r>
              <a:rPr lang="en-US" sz="1200" dirty="0"/>
              <a:t> If they are unsure what to search for, they activate the </a:t>
            </a:r>
            <a:r>
              <a:rPr lang="en-US" sz="1200" b="1" dirty="0"/>
              <a:t>AI Chatbot via Voice</a:t>
            </a:r>
            <a:r>
              <a:rPr lang="en-US" sz="1200" dirty="0"/>
              <a:t>, asking, "Where is the nearest accessible restroom?"</a:t>
            </a:r>
          </a:p>
        </p:txBody>
      </p:sp>
    </p:spTree>
    <p:extLst>
      <p:ext uri="{BB962C8B-B14F-4D97-AF65-F5344CB8AC3E}">
        <p14:creationId xmlns:p14="http://schemas.microsoft.com/office/powerpoint/2010/main" val="449906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5918C-55CC-0D39-00AD-DA1565499FCE}"/>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2E92C7DF-D33B-7B16-A4B4-F5186582B3E8}"/>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Key Features or Functionality</a:t>
            </a:r>
          </a:p>
        </p:txBody>
      </p:sp>
      <p:sp>
        <p:nvSpPr>
          <p:cNvPr id="110" name="TextShape 3">
            <a:extLst>
              <a:ext uri="{FF2B5EF4-FFF2-40B4-BE49-F238E27FC236}">
                <a16:creationId xmlns:a16="http://schemas.microsoft.com/office/drawing/2014/main" id="{3D525907-E4D5-F610-10BE-4DD565F935A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4</a:t>
            </a:fld>
            <a:endParaRPr lang="en-GB" sz="1200" b="0" strike="noStrike" spc="-1">
              <a:latin typeface="Times New Roman"/>
            </a:endParaRPr>
          </a:p>
        </p:txBody>
      </p:sp>
      <p:sp>
        <p:nvSpPr>
          <p:cNvPr id="5" name="TextShape 2">
            <a:extLst>
              <a:ext uri="{FF2B5EF4-FFF2-40B4-BE49-F238E27FC236}">
                <a16:creationId xmlns:a16="http://schemas.microsoft.com/office/drawing/2014/main" id="{77327EE2-B240-6318-B5E1-98CC1615AD65}"/>
              </a:ext>
            </a:extLst>
          </p:cNvPr>
          <p:cNvSpPr txBox="1"/>
          <p:nvPr/>
        </p:nvSpPr>
        <p:spPr>
          <a:xfrm>
            <a:off x="164008" y="1109742"/>
            <a:ext cx="8838720" cy="4838571"/>
          </a:xfrm>
          <a:prstGeom prst="rect">
            <a:avLst/>
          </a:prstGeom>
          <a:noFill/>
          <a:ln w="9360">
            <a:noFill/>
          </a:ln>
        </p:spPr>
        <p:txBody>
          <a:bodyPr>
            <a:noAutofit/>
          </a:bodyPr>
          <a:lstStyle/>
          <a:p>
            <a:r>
              <a:rPr lang="en-US" sz="1200" b="1" dirty="0"/>
              <a:t>Interactive Navigation &amp; Routing:</a:t>
            </a:r>
            <a:r>
              <a:rPr lang="en-US" sz="1200" dirty="0"/>
              <a:t> Accessible and efficient pathfinding to help users locate specific buildings, departments, and amenities.</a:t>
            </a:r>
          </a:p>
          <a:p>
            <a:r>
              <a:rPr lang="en-US" sz="1200" b="1" dirty="0"/>
              <a:t>AI-Powered Chatbot with Voice Input:</a:t>
            </a:r>
            <a:r>
              <a:rPr lang="en-US" sz="1200" dirty="0"/>
              <a:t> A modernized intelligent assistant featuring voice recognition and rich UI components to dynamically answer questions.</a:t>
            </a:r>
          </a:p>
          <a:p>
            <a:r>
              <a:rPr lang="en-US" sz="1200" b="1" dirty="0"/>
              <a:t>Command-Palette Search:</a:t>
            </a:r>
            <a:r>
              <a:rPr lang="en-US" sz="1200" dirty="0"/>
              <a:t> A lightning-fast, global search feature (similar to Spotlight/Alfred) for instantly finding locations, faculty, or upcoming events.</a:t>
            </a:r>
          </a:p>
          <a:p>
            <a:r>
              <a:rPr lang="en-US" sz="1200" b="1" dirty="0"/>
              <a:t>Real-Time Crowd Density Heatmap:</a:t>
            </a:r>
            <a:r>
              <a:rPr lang="en-US" sz="1200" dirty="0"/>
              <a:t> Visually highlights busy areas on campus, allowing users to avoid congestion and optimize their routes.</a:t>
            </a:r>
          </a:p>
          <a:p>
            <a:r>
              <a:rPr lang="en-US" sz="1200" b="1" dirty="0"/>
              <a:t>Analytics Dashboard:</a:t>
            </a:r>
            <a:r>
              <a:rPr lang="en-US" sz="1200" dirty="0"/>
              <a:t> A real-time administrative dashboard providing insights into campus usage, popular search trends, and system performance.</a:t>
            </a:r>
          </a:p>
          <a:p>
            <a:r>
              <a:rPr lang="en-US" sz="1200" b="1" dirty="0"/>
              <a:t>Step-by-Step Visual Guidance:</a:t>
            </a:r>
            <a:r>
              <a:rPr lang="en-US" sz="1200" dirty="0"/>
              <a:t> Provides clear, step-by-step visual pathways with directional cues directly on the digital map to ensure users don't get lost.</a:t>
            </a:r>
          </a:p>
          <a:p>
            <a:r>
              <a:rPr lang="en-US" sz="1200" b="1" dirty="0"/>
              <a:t>Dynamic Map Layers:</a:t>
            </a:r>
            <a:r>
              <a:rPr lang="en-US" sz="1200" dirty="0"/>
              <a:t> Allows users to toggle specific map overlays to instantly find essential facilities like restrooms, cafeterias, parking, and wheelchair-accessible ramps.</a:t>
            </a:r>
          </a:p>
          <a:p>
            <a:r>
              <a:rPr lang="en-US" sz="1200" b="1" dirty="0"/>
              <a:t>Live Event Discovery:</a:t>
            </a:r>
            <a:r>
              <a:rPr lang="en-US" sz="1200" dirty="0"/>
              <a:t> Integrates with campus schedules to highlight ongoing or upcoming events (like seminars or sports matches) directly on the interactive map.</a:t>
            </a:r>
          </a:p>
          <a:p>
            <a:r>
              <a:rPr lang="en-US" sz="1200" b="1" dirty="0"/>
              <a:t>Cross-Platform Responsiveness:</a:t>
            </a:r>
            <a:r>
              <a:rPr lang="en-US" sz="1200" dirty="0"/>
              <a:t> A mobile-first design architecture ensuring the platform functions flawlessly across smartphones, tablets, and desktop computers without losing graphical fidelity.</a:t>
            </a:r>
          </a:p>
          <a:p>
            <a:r>
              <a:rPr lang="en-US" sz="1200" b="1" dirty="0"/>
              <a:t>Premium Interactive UI:</a:t>
            </a:r>
            <a:r>
              <a:rPr lang="en-US" sz="1200" dirty="0"/>
              <a:t> Features an engaging "Welcome Overlay," smooth micro-animations, and a sleek dark mode option that elevates the user experience to an investor-grade standard.</a:t>
            </a:r>
          </a:p>
          <a:p>
            <a:pPr marL="457200" lvl="0" indent="-317500" algn="just">
              <a:lnSpc>
                <a:spcPct val="150000"/>
              </a:lnSpc>
              <a:buClr>
                <a:srgbClr val="000000"/>
              </a:buClr>
              <a:buSzPts val="1400"/>
              <a:buChar char="●"/>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1078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E72314-8D41-633C-BEB1-1F4D91060419}"/>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FAECB82E-BF06-8C60-085B-DEEEE30622A4}"/>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b="0" strike="noStrike" spc="-1" dirty="0">
                <a:solidFill>
                  <a:srgbClr val="000000"/>
                </a:solidFill>
                <a:latin typeface="Times New Roman" panose="02020603050405020304" pitchFamily="18" charset="0"/>
                <a:cs typeface="Times New Roman" panose="02020603050405020304" pitchFamily="18" charset="0"/>
              </a:rPr>
              <a:t>Tools and Technology</a:t>
            </a:r>
          </a:p>
        </p:txBody>
      </p:sp>
      <p:sp>
        <p:nvSpPr>
          <p:cNvPr id="110" name="TextShape 3">
            <a:extLst>
              <a:ext uri="{FF2B5EF4-FFF2-40B4-BE49-F238E27FC236}">
                <a16:creationId xmlns:a16="http://schemas.microsoft.com/office/drawing/2014/main" id="{79C5B879-0D39-6405-4BFA-DC1AE8E88DF5}"/>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5</a:t>
            </a:fld>
            <a:endParaRPr lang="en-GB" sz="1200" b="0" strike="noStrike" spc="-1">
              <a:latin typeface="Times New Roman"/>
            </a:endParaRPr>
          </a:p>
        </p:txBody>
      </p:sp>
      <p:sp>
        <p:nvSpPr>
          <p:cNvPr id="5" name="TextShape 2">
            <a:extLst>
              <a:ext uri="{FF2B5EF4-FFF2-40B4-BE49-F238E27FC236}">
                <a16:creationId xmlns:a16="http://schemas.microsoft.com/office/drawing/2014/main" id="{BB7761CC-923E-2CDB-EF45-4663E1AEA2B4}"/>
              </a:ext>
            </a:extLst>
          </p:cNvPr>
          <p:cNvSpPr txBox="1"/>
          <p:nvPr/>
        </p:nvSpPr>
        <p:spPr>
          <a:xfrm>
            <a:off x="164008" y="1109742"/>
            <a:ext cx="8838720" cy="4838571"/>
          </a:xfrm>
          <a:prstGeom prst="rect">
            <a:avLst/>
          </a:prstGeom>
          <a:noFill/>
          <a:ln w="9360">
            <a:noFill/>
          </a:ln>
        </p:spPr>
        <p:txBody>
          <a:bodyPr>
            <a:noAutofit/>
          </a:bodyPr>
          <a:lstStyle/>
          <a:p>
            <a:pPr algn="just">
              <a:lnSpc>
                <a:spcPct val="150000"/>
              </a:lnSpc>
              <a:spcBef>
                <a:spcPts val="400"/>
              </a:spcBef>
            </a:pPr>
            <a:endParaRPr lang="en-US" sz="1200" b="0" strike="noStrike" spc="-1" dirty="0">
              <a:solidFill>
                <a:srgbClr val="000000"/>
              </a:solidFill>
              <a:latin typeface="Times New Roman" panose="02020603050405020304" pitchFamily="18" charset="0"/>
              <a:cs typeface="Times New Roman" panose="02020603050405020304" pitchFamily="18" charset="0"/>
            </a:endParaRPr>
          </a:p>
          <a:p>
            <a:r>
              <a:rPr lang="en-IN" sz="1200" b="1" dirty="0"/>
              <a:t>Frontend (User Interface):</a:t>
            </a:r>
            <a:r>
              <a:rPr lang="en-IN" sz="1200" dirty="0"/>
              <a:t> React.js / Vite for a dynamic Single Page Application, styled with modern CSS/Tailwind CSS for a premium, responsive design.</a:t>
            </a:r>
          </a:p>
          <a:p>
            <a:r>
              <a:rPr lang="en-IN" sz="1200" b="1" dirty="0"/>
              <a:t>Backend (Server):</a:t>
            </a:r>
            <a:r>
              <a:rPr lang="en-IN" sz="1200" dirty="0"/>
              <a:t> Node.js and Express.js to handle robust API requests, routing logic, and backend processing.</a:t>
            </a:r>
          </a:p>
          <a:p>
            <a:r>
              <a:rPr lang="en-IN" sz="1200" b="1" dirty="0"/>
              <a:t>AI &amp; Search Capabilities:</a:t>
            </a:r>
            <a:r>
              <a:rPr lang="en-IN" sz="1200" dirty="0"/>
              <a:t> Natural Language Processing (NLP) integration for the chatbot and advanced algorithms for the command-palette search.</a:t>
            </a:r>
          </a:p>
          <a:p>
            <a:r>
              <a:rPr lang="en-IN" sz="1200" b="1" dirty="0"/>
              <a:t>Data Management:</a:t>
            </a:r>
            <a:r>
              <a:rPr lang="en-IN" sz="1200" dirty="0"/>
              <a:t> Structured JSON data pipelines (e.g., handling events and location metadata) and efficient state management.</a:t>
            </a:r>
          </a:p>
          <a:p>
            <a:r>
              <a:rPr lang="en-IN" sz="1200" b="1" dirty="0"/>
              <a:t>Deployment:</a:t>
            </a:r>
            <a:r>
              <a:rPr lang="en-IN" sz="1200" dirty="0"/>
              <a:t> Hosted on production-ready cloud platforms (</a:t>
            </a:r>
            <a:r>
              <a:rPr lang="en-IN" sz="1200" dirty="0" err="1"/>
              <a:t>Vercel</a:t>
            </a:r>
            <a:r>
              <a:rPr lang="en-IN" sz="1200" dirty="0"/>
              <a:t> for the Frontend, Render for the Backend).</a:t>
            </a:r>
          </a:p>
          <a:p>
            <a:pPr algn="just">
              <a:lnSpc>
                <a:spcPct val="150000"/>
              </a:lnSpc>
              <a:spcBef>
                <a:spcPts val="400"/>
              </a:spcBef>
            </a:pPr>
            <a:endParaRPr lang="en-US" sz="1400"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a:p>
            <a:pPr algn="just">
              <a:lnSpc>
                <a:spcPct val="150000"/>
              </a:lnSpc>
              <a:spcBef>
                <a:spcPts val="400"/>
              </a:spcBef>
            </a:pPr>
            <a:endParaRPr lang="en-US" sz="1400" b="0"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8018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9E77E-3A05-DD5D-BF41-CD231C913FC6}"/>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D4557B4A-FE6A-3847-258F-09116C935CEE}"/>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US" sz="3000" spc="-1" dirty="0">
                <a:solidFill>
                  <a:srgbClr val="000000"/>
                </a:solidFill>
                <a:latin typeface="Times New Roman" panose="02020603050405020304" pitchFamily="18" charset="0"/>
                <a:cs typeface="Times New Roman" panose="02020603050405020304" pitchFamily="18" charset="0"/>
              </a:rPr>
              <a:t>Implementation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182CA221-D424-B765-5C0D-78EC7DFE1CAB}"/>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6</a:t>
            </a:fld>
            <a:endParaRPr lang="en-GB" sz="1200" b="0" strike="noStrike" spc="-1">
              <a:latin typeface="Times New Roman"/>
            </a:endParaRPr>
          </a:p>
        </p:txBody>
      </p:sp>
      <p:sp>
        <p:nvSpPr>
          <p:cNvPr id="5" name="TextShape 2">
            <a:extLst>
              <a:ext uri="{FF2B5EF4-FFF2-40B4-BE49-F238E27FC236}">
                <a16:creationId xmlns:a16="http://schemas.microsoft.com/office/drawing/2014/main" id="{80E056B5-8BF9-FADE-5922-35FDD8BA63D6}"/>
              </a:ext>
            </a:extLst>
          </p:cNvPr>
          <p:cNvSpPr txBox="1"/>
          <p:nvPr/>
        </p:nvSpPr>
        <p:spPr>
          <a:xfrm>
            <a:off x="164008" y="1109742"/>
            <a:ext cx="8838720" cy="4838571"/>
          </a:xfrm>
          <a:prstGeom prst="rect">
            <a:avLst/>
          </a:prstGeom>
          <a:noFill/>
          <a:ln w="9360">
            <a:noFill/>
          </a:ln>
        </p:spPr>
        <p:txBody>
          <a:bodyPr>
            <a:noAutofit/>
          </a:bodyPr>
          <a:lstStyle/>
          <a:p>
            <a:r>
              <a:rPr lang="en-US" sz="1400" b="1" dirty="0"/>
              <a:t>Phase 1 - Project Foundation &amp; Data Mapping:</a:t>
            </a:r>
            <a:r>
              <a:rPr lang="en-US" sz="1400" dirty="0"/>
              <a:t> We started by gathering comprehensive data on the campus layout. We mapped the infrastructure, identified key points of interest, and built the core user interface of the digital twin, ensuring a strong architectural foundation using React and Node.js.</a:t>
            </a:r>
          </a:p>
          <a:p>
            <a:r>
              <a:rPr lang="en-US" sz="1400" b="1" dirty="0"/>
              <a:t>Phase 2 - Core Functionality &amp; Logic:</a:t>
            </a:r>
            <a:r>
              <a:rPr lang="en-US" sz="1400" dirty="0"/>
              <a:t> Focused on backend algorithms. We developed the complex navigation routing algorithms to ensure accurate pathfinding. Simultaneously, we implemented the global command-palette search, structuring the database for rapid query responses.</a:t>
            </a:r>
          </a:p>
          <a:p>
            <a:r>
              <a:rPr lang="en-US" sz="1400" b="1" dirty="0"/>
              <a:t>Phase 3 - AI Integration &amp; Voice Capabilities:</a:t>
            </a:r>
            <a:r>
              <a:rPr lang="en-US" sz="1400" dirty="0"/>
              <a:t> A major technical milestone where we integrated Natural Language Processing (NLP). We trained the intelligent chatbot system to understand campus-specific context, enabled voice input for accessibility, and connected the bot directly to our live campus data.</a:t>
            </a:r>
          </a:p>
          <a:p>
            <a:r>
              <a:rPr lang="en-US" sz="1400" b="1" dirty="0"/>
              <a:t>Phase 4 - Advanced Features &amp; Real-Time Data:</a:t>
            </a:r>
            <a:r>
              <a:rPr lang="en-US" sz="1400" dirty="0"/>
              <a:t> Shifted focus to data visualization and analytics. We implemented the real-time crowd density heatmap to visualize traffic flow and built the administrative analytics dashboard to monitor system health and user behavior.</a:t>
            </a:r>
          </a:p>
          <a:p>
            <a:r>
              <a:rPr lang="en-US" sz="1400" b="1" dirty="0"/>
              <a:t>Phase 5 - Optimization, Testing &amp; Deployment:</a:t>
            </a:r>
            <a:r>
              <a:rPr lang="en-US" sz="1400" dirty="0"/>
              <a:t> The final polish phase. We conducted rigorous cross-device testing to fix responsive UI bugs, optimized load times, and deployed the frontend to </a:t>
            </a:r>
            <a:r>
              <a:rPr lang="en-US" sz="1400" dirty="0" err="1"/>
              <a:t>Vercel</a:t>
            </a:r>
            <a:r>
              <a:rPr lang="en-US" sz="1400" dirty="0"/>
              <a:t> and the backend to Render, ensuring a production-ready, public-facing application.</a:t>
            </a:r>
          </a:p>
          <a:p>
            <a:pPr>
              <a:lnSpc>
                <a:spcPct val="150000"/>
              </a:lnSpc>
              <a:spcBef>
                <a:spcPts val="400"/>
              </a:spcBef>
            </a:pPr>
            <a:endParaRPr lang="en-US" sz="1400" b="1" strike="noStrike" spc="-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1046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774086-F397-0017-54D9-9272CF65F8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3744182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4EF6E-4D10-2C25-2BDE-C9C832F340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D2EFBAC-13DA-C09B-E6CA-9147173A71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1456461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C400-85E7-C9E5-B3B5-146D448C92F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4F35478-43F1-806C-5584-B79A888A71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112207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C267F8-9B6D-C108-A4B6-C2B89096798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EA40F6F-92F2-62CD-17F1-6C9065F0F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12531604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692E9-754E-CFB0-8B11-6803180AE5A5}"/>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B4C1801-3B53-93DD-56ED-AFC5D77B4B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3051553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F38E866-8A3F-1006-4C26-F07D895ACC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3105661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CC3A1-B58A-D3A4-EA07-96AD8BF9B27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058075E-FEFB-866B-C7B5-3E167824EB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28387033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E45CD-A454-8C0E-3E98-9F6DDA6D23B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59101B4-6577-727C-0E53-D74B6A833B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2624479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AC6AF-D1EE-FDCB-00C1-8CFFF39C587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A80F1CE-2EA2-550B-941E-3900852BB0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763905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D87E4-7C75-1F06-F7C0-FE2CECFBC91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7701065-7E74-3373-AEE2-F1950F63E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71500"/>
            <a:ext cx="9144000" cy="5715000"/>
          </a:xfrm>
          <a:prstGeom prst="rect">
            <a:avLst/>
          </a:prstGeom>
        </p:spPr>
      </p:pic>
    </p:spTree>
    <p:extLst>
      <p:ext uri="{BB962C8B-B14F-4D97-AF65-F5344CB8AC3E}">
        <p14:creationId xmlns:p14="http://schemas.microsoft.com/office/powerpoint/2010/main" val="36021301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41404B-705A-F959-F0F1-84968CF2E2A5}"/>
            </a:ext>
          </a:extLst>
        </p:cNvPr>
        <p:cNvGrpSpPr/>
        <p:nvPr/>
      </p:nvGrpSpPr>
      <p:grpSpPr>
        <a:xfrm>
          <a:off x="0" y="0"/>
          <a:ext cx="0" cy="0"/>
          <a:chOff x="0" y="0"/>
          <a:chExt cx="0" cy="0"/>
        </a:xfrm>
      </p:grpSpPr>
      <p:sp>
        <p:nvSpPr>
          <p:cNvPr id="108" name="TextShape 1">
            <a:extLst>
              <a:ext uri="{FF2B5EF4-FFF2-40B4-BE49-F238E27FC236}">
                <a16:creationId xmlns:a16="http://schemas.microsoft.com/office/drawing/2014/main" id="{CC37F857-9EB2-1C8D-BD15-2E38004FE7BF}"/>
              </a:ext>
            </a:extLst>
          </p:cNvPr>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b="0" strike="noStrike" spc="-1" dirty="0">
                <a:solidFill>
                  <a:srgbClr val="000000"/>
                </a:solidFill>
                <a:latin typeface="Times New Roman" panose="02020603050405020304" pitchFamily="18" charset="0"/>
                <a:cs typeface="Times New Roman" panose="02020603050405020304" pitchFamily="18" charset="0"/>
              </a:rPr>
              <a:t>Conclusion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a:extLst>
              <a:ext uri="{FF2B5EF4-FFF2-40B4-BE49-F238E27FC236}">
                <a16:creationId xmlns:a16="http://schemas.microsoft.com/office/drawing/2014/main" id="{B586C296-F171-300D-BB70-15F025026403}"/>
              </a:ext>
            </a:extLst>
          </p:cNvPr>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17</a:t>
            </a:fld>
            <a:endParaRPr lang="en-GB" sz="1200" b="0" strike="noStrike" spc="-1">
              <a:latin typeface="Times New Roman"/>
            </a:endParaRPr>
          </a:p>
        </p:txBody>
      </p:sp>
      <p:sp>
        <p:nvSpPr>
          <p:cNvPr id="5" name="TextShape 2">
            <a:extLst>
              <a:ext uri="{FF2B5EF4-FFF2-40B4-BE49-F238E27FC236}">
                <a16:creationId xmlns:a16="http://schemas.microsoft.com/office/drawing/2014/main" id="{B5C130F6-51FF-2E06-11DE-A9047F4C4815}"/>
              </a:ext>
            </a:extLst>
          </p:cNvPr>
          <p:cNvSpPr txBox="1"/>
          <p:nvPr/>
        </p:nvSpPr>
        <p:spPr>
          <a:xfrm>
            <a:off x="164008" y="1109742"/>
            <a:ext cx="8838720" cy="4838571"/>
          </a:xfrm>
          <a:prstGeom prst="rect">
            <a:avLst/>
          </a:prstGeom>
          <a:noFill/>
          <a:ln w="9360">
            <a:noFill/>
          </a:ln>
        </p:spPr>
        <p:txBody>
          <a:bodyPr>
            <a:noAutofit/>
          </a:bodyPr>
          <a:lstStyle/>
          <a:p>
            <a:r>
              <a:rPr lang="en-US" sz="1200" b="1" dirty="0"/>
              <a:t>A Modernized, Digital-First Experience:</a:t>
            </a:r>
            <a:r>
              <a:rPr lang="en-US" sz="1200" dirty="0"/>
              <a:t> </a:t>
            </a:r>
            <a:r>
              <a:rPr lang="en-US" sz="1200" dirty="0" err="1"/>
              <a:t>Cognix</a:t>
            </a:r>
            <a:r>
              <a:rPr lang="en-US" sz="1200" dirty="0"/>
              <a:t> successfully bridges the gap between physical infrastructure and digital convenience. By transforming outdated, static campus maps into an interactive digital twin, we have created a modern tool that meets the expectations of today’s tech-savvy users.</a:t>
            </a:r>
          </a:p>
          <a:p>
            <a:r>
              <a:rPr lang="en-US" sz="1200" b="1" dirty="0"/>
              <a:t>Significantly Enhanced Accessibility:</a:t>
            </a:r>
            <a:r>
              <a:rPr lang="en-US" sz="1200" dirty="0"/>
              <a:t> The platform drastically reduces the friction of navigating a large campus. Aided by an AI voice assistant and real-time insights, we have made it significantly easier for new students, faculty, and visitors to find their way around confidently and efficiently.</a:t>
            </a:r>
          </a:p>
          <a:p>
            <a:r>
              <a:rPr lang="en-US" sz="1200" b="1" dirty="0"/>
              <a:t>Scalable, Investor-Ready Architecture:</a:t>
            </a:r>
            <a:r>
              <a:rPr lang="en-US" sz="1200" dirty="0"/>
              <a:t> Built with modern web standards (the MERN/Vite stack) and deployed on robust cloud platforms, the system is not just a prototype; it is highly scalable, secure, and ready for real-world, high-traffic usage.</a:t>
            </a:r>
          </a:p>
          <a:p>
            <a:r>
              <a:rPr lang="en-US" sz="1200" b="1" dirty="0"/>
              <a:t>Expansive Future Scope:</a:t>
            </a:r>
            <a:r>
              <a:rPr lang="en-US" sz="1200" dirty="0"/>
              <a:t> The foundation is laid for future innovation. Potential next steps include integrating live IoT sensors (e.g., smart cameras or Wi-Fi data) for hyper-accurate real-time crowd data, introducing AR (Augmented Reality) navigation through mobile cameras, and licensing the platform for expansion to other universities and corporate campuses.</a:t>
            </a:r>
          </a:p>
          <a:p>
            <a:pPr marL="139700" lvl="0">
              <a:buClr>
                <a:srgbClr val="000000"/>
              </a:buClr>
              <a:buSzPts val="1400"/>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extLst>
      <p:ext uri="{BB962C8B-B14F-4D97-AF65-F5344CB8AC3E}">
        <p14:creationId xmlns:p14="http://schemas.microsoft.com/office/powerpoint/2010/main" val="3348009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18</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34827</TotalTime>
  <Words>1428</Words>
  <Application>Microsoft Office PowerPoint</Application>
  <PresentationFormat>On-screen Show (4:3)</PresentationFormat>
  <Paragraphs>109</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Suyash Sharma</cp:lastModifiedBy>
  <cp:revision>2313</cp:revision>
  <dcterms:created xsi:type="dcterms:W3CDTF">2010-04-09T07:36:15Z</dcterms:created>
  <dcterms:modified xsi:type="dcterms:W3CDTF">2026-04-29T05:21:37Z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